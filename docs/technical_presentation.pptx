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Swap in team name / ID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pitch: temporal dynamics vs per-flow classification. Left panel = status quo, right = our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pipeline diagram — same one used in the architecture document. Walk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outputs from the real code on synthetic schema-matched data. Full CIC-IDS2018 numbers replace these after training on target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slide, bookends the dark title slide. Roadmap items map directly to the architecture doc's limitations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assets/title_mo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4160520" cy="4160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26153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69164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Network Attack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46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Network Traffic Data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58368" y="3977640"/>
            <a:ext cx="219456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2062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 for proactive cyber defence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forecasting infiltration before the kill chain completes, not classifying it after.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Technical Research Organisation (NTRO)  ·  Smart India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Isolated Flows to Trajectories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world model catches what a per-flow classifier misses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CLASSIFIER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6712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flow scored alone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384048" cy="384048"/>
          </a:xfrm>
          <a:prstGeom prst="ellipse">
            <a:avLst/>
          </a:prstGeom>
          <a:solidFill>
            <a:srgbClr val="CADCFC"/>
          </a:solidFill>
          <a:ln w="15875">
            <a:solidFill>
              <a:srgbClr val="9FB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2834640"/>
            <a:ext cx="384048" cy="384048"/>
          </a:xfrm>
          <a:prstGeom prst="ellipse">
            <a:avLst/>
          </a:prstGeom>
          <a:solidFill>
            <a:srgbClr val="CADCFC"/>
          </a:solidFill>
          <a:ln w="15875">
            <a:solidFill>
              <a:srgbClr val="9FB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05456" y="2834640"/>
            <a:ext cx="384048" cy="384048"/>
          </a:xfrm>
          <a:prstGeom prst="ellipse">
            <a:avLst/>
          </a:prstGeom>
          <a:solidFill>
            <a:srgbClr val="CADCFC"/>
          </a:solidFill>
          <a:ln w="15875">
            <a:solidFill>
              <a:srgbClr val="9FB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2834640"/>
            <a:ext cx="384048" cy="384048"/>
          </a:xfrm>
          <a:prstGeom prst="ellipse">
            <a:avLst/>
          </a:prstGeom>
          <a:solidFill>
            <a:srgbClr val="E4536B"/>
          </a:solidFill>
          <a:ln w="15875">
            <a:solidFill>
              <a:srgbClr val="C236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87952" y="2834640"/>
            <a:ext cx="384048" cy="384048"/>
          </a:xfrm>
          <a:prstGeom prst="ellipse">
            <a:avLst/>
          </a:prstGeom>
          <a:solidFill>
            <a:srgbClr val="CADCFC"/>
          </a:solidFill>
          <a:ln w="15875">
            <a:solidFill>
              <a:srgbClr val="9FB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01568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· benign · benign · MALICIOUS · benign  —  each label independent of the others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452628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3D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attack order — port-probe sequence, SYN-before-flood timing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3D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slow reconnaissance designed to evade per-flow thresholds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3D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after compromise, not before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65392" y="160020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39712" y="18288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(OURS)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39712" y="216712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trajectory is the signal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85432" y="3545586"/>
            <a:ext cx="816102" cy="-220828"/>
          </a:xfrm>
          <a:prstGeom prst="line">
            <a:avLst/>
          </a:prstGeom>
          <a:noFill/>
          <a:ln w="28575">
            <a:solidFill>
              <a:srgbClr val="FFFFF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701534" y="3324758"/>
            <a:ext cx="816102" cy="96012"/>
          </a:xfrm>
          <a:prstGeom prst="line">
            <a:avLst/>
          </a:prstGeom>
          <a:noFill/>
          <a:ln w="28575">
            <a:solidFill>
              <a:srgbClr val="FFFFF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517636" y="3420770"/>
            <a:ext cx="816102" cy="-288036"/>
          </a:xfrm>
          <a:prstGeom prst="line">
            <a:avLst/>
          </a:prstGeom>
          <a:noFill/>
          <a:ln w="28575">
            <a:solidFill>
              <a:srgbClr val="FFFFF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333738" y="3132734"/>
            <a:ext cx="864108" cy="-115214"/>
          </a:xfrm>
          <a:prstGeom prst="line">
            <a:avLst/>
          </a:prstGeom>
          <a:noFill/>
          <a:ln w="28575">
            <a:solidFill>
              <a:srgbClr val="FFFFF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803136" y="346329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19238" y="324246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35340" y="333847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1442" y="305043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1542" y="2871216"/>
            <a:ext cx="292608" cy="292608"/>
          </a:xfrm>
          <a:prstGeom prst="ellipse">
            <a:avLst/>
          </a:prstGeom>
          <a:solidFill>
            <a:srgbClr val="F2A541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93992" y="35204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infiltration in ~K windows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9712" y="4023360"/>
            <a:ext cx="4526280" cy="0"/>
          </a:xfrm>
          <a:prstGeom prst="line">
            <a:avLst/>
          </a:prstGeom>
          <a:noFill/>
          <a:ln w="12700">
            <a:solidFill>
              <a:srgbClr val="3B4A7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39712" y="42062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P(next state | recent history) over a 5-minute window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forward 1 minute, free-running on its own forecasts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trajectory before the kill chain completes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→ network state → K-step forecast → stage + explanation, benchmarked against a memoryless baseline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28000"/>
              </a:srgbClr>
            </a:outerShdw>
          </a:effectLst>
        </p:spPr>
      </p:sp>
      <p:pic>
        <p:nvPicPr>
          <p:cNvPr id="5" name="Image 0" descr="asse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606" y="1623060"/>
            <a:ext cx="85877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The Temporal Signal Is Real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run on synthetic traffic matching the CIC-IDS2018 schema — confirms the pipeline end-to-end ahead of the full-dataset benchmark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13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67335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313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67335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313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167335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313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7614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logistic-regression baseline (same features, no temporal context): </a:t>
            </a:r>
            <a:pPr indent="0" marL="0">
              <a:buNone/>
            </a:pPr>
            <a:r>
              <a:rPr lang="en-US" sz="1250" b="1" i="1" dirty="0">
                <a:solidFill>
                  <a:srgbClr val="C23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0.00</a:t>
            </a:r>
            <a:pPr indent="0" marL="0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the same operating point.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65379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28000"/>
              </a:srgbClr>
            </a:outerShdw>
          </a:effectLst>
        </p:spPr>
      </p:sp>
      <p:pic>
        <p:nvPicPr>
          <p:cNvPr id="18" name="Image 0" descr="assets/eval_example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3383280"/>
            <a:ext cx="6103620" cy="24414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13232" y="5897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probability rises sharply at each injected attack and returns to baseline elsewhere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23760" y="3246120"/>
            <a:ext cx="4416552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28000"/>
              </a:srgbClr>
            </a:outerShdw>
          </a:effectLst>
        </p:spPr>
      </p:sp>
      <p:pic>
        <p:nvPicPr>
          <p:cNvPr id="21" name="Image 1" descr="assets/eval_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034" y="3383280"/>
            <a:ext cx="3226003" cy="230428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388352" y="57607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Gradients: flood-style attack correctly attributed to rate + SYN features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SOC, Ready to Scale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82880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563624"/>
            <a:ext cx="457200" cy="457200"/>
          </a:xfrm>
          <a:prstGeom prst="ellipse">
            <a:avLst/>
          </a:prstGeom>
          <a:solidFill>
            <a:srgbClr val="2A3570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63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81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Air-gapped by design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3794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inference and demo interface — no cloud dependency, fits CII environments where telemetry cannot leave the perimeter.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457200" cy="457200"/>
          </a:xfrm>
          <a:prstGeom prst="ellipse">
            <a:avLst/>
          </a:prstGeom>
          <a:solidFill>
            <a:srgbClr val="2A3570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414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by construction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980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alarm ships with Integrated-Gradients attribution to specific flags, ports and rates — not a black-box score.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483864"/>
            <a:ext cx="457200" cy="457200"/>
          </a:xfrm>
          <a:prstGeom prst="ellipse">
            <a:avLst/>
          </a:prstGeom>
          <a:solidFill>
            <a:srgbClr val="2A3570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01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enough to matter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5818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thousand parameters: trains in minutes on a 6 GB laptop GPU, infers in real time on CPU.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434840"/>
            <a:ext cx="11064240" cy="0"/>
          </a:xfrm>
          <a:prstGeom prst="line">
            <a:avLst/>
          </a:prstGeom>
          <a:noFill/>
          <a:ln w="12700">
            <a:solidFill>
              <a:srgbClr val="3B4A7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8920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benchmark on the real 16M-flow CIC-IDS2018 dataset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in CIC-IDS2017 for labelled Reconnaissance coverage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4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variant over the live flow graph for lateral-movement patterns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2026-09-24T06:00:19Z</dcterms:created>
  <dcterms:modified xsi:type="dcterms:W3CDTF">2026-09-24T06:00:19Z</dcterms:modified>
</cp:coreProperties>
</file>